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8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726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Úvodná hodina do databáz. BOZP a organizácia už boli. Cieľ: pochopiť čo je databáza, pojmy tabuľka/riadok/stĺpec, SELECT, a vidieť živé demo v Supabase. Na konci testík v MS 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37160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" name="Shape 1"/>
          <p:cNvSpPr/>
          <p:nvPr/>
        </p:nvSpPr>
        <p:spPr>
          <a:xfrm>
            <a:off x="8193024" y="224028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8247888" y="310896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Shape 3"/>
          <p:cNvSpPr/>
          <p:nvPr/>
        </p:nvSpPr>
        <p:spPr>
          <a:xfrm>
            <a:off x="8302752" y="397764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8138160" y="137160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Text 5"/>
          <p:cNvSpPr txBox="1"/>
          <p:nvPr/>
        </p:nvSpPr>
        <p:spPr>
          <a:xfrm>
            <a:off x="8138160" y="13716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...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3716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· Informatické systémy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6596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Databázy — o čo vlastne ide?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977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Prvé stretnutie s </a:t>
            </a:r>
            <a:r>
              <a:rPr lang="en-US" sz="2000" dirty="0" err="1">
                <a:solidFill>
                  <a:srgbClr val="CF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databázami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49808" y="4663440"/>
            <a:ext cx="237744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 txBox="1"/>
          <p:nvPr/>
        </p:nvSpPr>
        <p:spPr>
          <a:xfrm>
            <a:off x="731520" y="4800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obsahová hodina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Kde všade sú dáta?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896112" y="189280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Text 3"/>
          <p:cNvSpPr txBox="1"/>
          <p:nvPr/>
        </p:nvSpPr>
        <p:spPr>
          <a:xfrm>
            <a:off x="896112" y="1892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1109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EduPage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328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známky, rozvrh, dochádzka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6002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4736592" y="189280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Text 8"/>
          <p:cNvSpPr txBox="1"/>
          <p:nvPr/>
        </p:nvSpPr>
        <p:spPr>
          <a:xfrm>
            <a:off x="4736592" y="1892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91109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E-shop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5328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produkty, objednávky, zákazníci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21040" y="16002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8577072" y="189280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Text 13"/>
          <p:cNvSpPr txBox="1"/>
          <p:nvPr/>
        </p:nvSpPr>
        <p:spPr>
          <a:xfrm>
            <a:off x="8577072" y="1892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191109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25328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fotky, komentáre, lajky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9" name="Shape 17"/>
          <p:cNvSpPr/>
          <p:nvPr/>
        </p:nvSpPr>
        <p:spPr>
          <a:xfrm>
            <a:off x="896112" y="381304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0" name="Text 18"/>
          <p:cNvSpPr txBox="1"/>
          <p:nvPr/>
        </p:nvSpPr>
        <p:spPr>
          <a:xfrm>
            <a:off x="896112" y="3813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8313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Banka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4531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účty, platby, zostatky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80560" y="3520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4" name="Shape 22"/>
          <p:cNvSpPr/>
          <p:nvPr/>
        </p:nvSpPr>
        <p:spPr>
          <a:xfrm>
            <a:off x="4736592" y="381304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5" name="Text 23"/>
          <p:cNvSpPr txBox="1"/>
          <p:nvPr/>
        </p:nvSpPr>
        <p:spPr>
          <a:xfrm>
            <a:off x="4736592" y="3813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8313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44531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videá, kanály, zhliadnutia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21040" y="3520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9" name="Shape 27"/>
          <p:cNvSpPr/>
          <p:nvPr/>
        </p:nvSpPr>
        <p:spPr>
          <a:xfrm>
            <a:off x="8577072" y="381304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0" name="Text 28"/>
          <p:cNvSpPr txBox="1"/>
          <p:nvPr/>
        </p:nvSpPr>
        <p:spPr>
          <a:xfrm>
            <a:off x="8577072" y="3813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281160" y="38313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Hry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595360" y="44531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hráči, skóre, itemy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každou z týchto služieb beží databáza.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Prečo nestačí obyčajný Excel?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Text 2"/>
          <p:cNvSpPr txBox="1"/>
          <p:nvPr/>
        </p:nvSpPr>
        <p:spPr>
          <a:xfrm>
            <a:off x="9144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Tabuľka v Exceli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6888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7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spomalí sa pri veľkom množstve dát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7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ťažko v nej pracuje viac ľudí naraz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7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údaje sa ľahko rozsypú a duplikujú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7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neustráži väzby medzi tabuľkami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Text 5"/>
          <p:cNvSpPr txBox="1"/>
          <p:nvPr/>
        </p:nvSpPr>
        <p:spPr>
          <a:xfrm>
            <a:off x="653796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Databáza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46888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7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zvládne milióny záznamov rýchlo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7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pracuje s ňou veľa ľudí naraz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7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stráži správnosť a nespornosť dát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7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spája súvisiace tabuľky dokopy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Čo je databáza?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Text 2"/>
          <p:cNvSpPr txBox="1"/>
          <p:nvPr/>
        </p:nvSpPr>
        <p:spPr>
          <a:xfrm>
            <a:off x="1005840" y="178308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Databáza </a:t>
            </a:r>
            <a:r>
              <a:rPr lang="en-US" sz="2600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usporiadaný súbor údajov, z ktorého vieme rýchlo vyberať, pridávať a spravovať dáta.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E2ECEF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6" name="Shape 4"/>
          <p:cNvSpPr/>
          <p:nvPr/>
        </p:nvSpPr>
        <p:spPr>
          <a:xfrm>
            <a:off x="914400" y="38862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Text 5"/>
          <p:cNvSpPr txBox="1"/>
          <p:nvPr/>
        </p:nvSpPr>
        <p:spPr>
          <a:xfrm>
            <a:off x="91440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SRBD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52628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systém riadenia bázy dát — program, ktorý sa o databázu stará a rozumie príkazom SQL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361188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E2ECEF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Shape 9"/>
          <p:cNvSpPr/>
          <p:nvPr/>
        </p:nvSpPr>
        <p:spPr>
          <a:xfrm>
            <a:off x="6446520" y="38862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2" name="Text 10"/>
          <p:cNvSpPr txBox="1"/>
          <p:nvPr/>
        </p:nvSpPr>
        <p:spPr>
          <a:xfrm>
            <a:off x="644652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3913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Relačná databáza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52628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dáta uložené v tabuľkách, ktoré môžu byť navzájom prepojené (napr. PostgreSQL, MySQL)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Databáza = tabuľky. Ako ich čítať?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Tabuľka  hry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766560" cy="28346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nazov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Minecraft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Logická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Witcher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Among 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Párty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91640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Shape 3"/>
          <p:cNvSpPr/>
          <p:nvPr/>
        </p:nvSpPr>
        <p:spPr>
          <a:xfrm>
            <a:off x="7909560" y="199339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Text 4"/>
          <p:cNvSpPr txBox="1"/>
          <p:nvPr/>
        </p:nvSpPr>
        <p:spPr>
          <a:xfrm>
            <a:off x="8458200" y="183794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tabuľka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22037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„vec“, o ktorej vedieme údaje (hry)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2825496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Shape 7"/>
          <p:cNvSpPr/>
          <p:nvPr/>
        </p:nvSpPr>
        <p:spPr>
          <a:xfrm>
            <a:off x="7909560" y="312724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Text 8"/>
          <p:cNvSpPr txBox="1"/>
          <p:nvPr/>
        </p:nvSpPr>
        <p:spPr>
          <a:xfrm>
            <a:off x="845820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riadok = záznam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45820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konkrétny prvok — jedna hra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26680" y="3959352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Shape 11"/>
          <p:cNvSpPr/>
          <p:nvPr/>
        </p:nvSpPr>
        <p:spPr>
          <a:xfrm>
            <a:off x="7909560" y="4261104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Text 12"/>
          <p:cNvSpPr txBox="1"/>
          <p:nvPr/>
        </p:nvSpPr>
        <p:spPr>
          <a:xfrm>
            <a:off x="8458200" y="410565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stĺpec = atribút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447141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vlastnosť — napr. cena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726680" y="5093208"/>
            <a:ext cx="3794760" cy="1005840"/>
          </a:xfrm>
          <a:prstGeom prst="roundRect">
            <a:avLst>
              <a:gd name="adj" fmla="val 7273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Shape 15"/>
          <p:cNvSpPr/>
          <p:nvPr/>
        </p:nvSpPr>
        <p:spPr>
          <a:xfrm>
            <a:off x="7909560" y="5394960"/>
            <a:ext cx="402336" cy="402336"/>
          </a:xfrm>
          <a:prstGeom prst="ellipse">
            <a:avLst/>
          </a:prstGeom>
          <a:solidFill>
            <a:srgbClr val="3C6E71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9" name="Text 16"/>
          <p:cNvSpPr txBox="1"/>
          <p:nvPr/>
        </p:nvSpPr>
        <p:spPr>
          <a:xfrm>
            <a:off x="8458200" y="52395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dátový typ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458200" y="560527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do stĺpca smie: text, číslo, dátum…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Riadok čítaš horizontálne (celá hra), stĺpec vertikálne (tá istá vlastnosť u všetkých hier).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Ako sa databázy pýtame? Jazyk SQL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databázou sa „rozprávame“ jazykom SQL. Najdôležitejší príkaz je SELECT — „vyber mi z tabuľky…“.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0B2027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Text 3"/>
          <p:cNvSpPr txBox="1"/>
          <p:nvPr/>
        </p:nvSpPr>
        <p:spPr>
          <a:xfrm>
            <a:off x="1005840" y="214884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nazov, rok  FROM hry  WHERE zaner = 'RPG';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slovensky: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8" name="Text 6"/>
          <p:cNvSpPr txBox="1"/>
          <p:nvPr/>
        </p:nvSpPr>
        <p:spPr>
          <a:xfrm>
            <a:off x="868680" y="4526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nazov, rok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074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vyber stĺpce názov a rok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42976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1" name="Text 9"/>
          <p:cNvSpPr txBox="1"/>
          <p:nvPr/>
        </p:nvSpPr>
        <p:spPr>
          <a:xfrm>
            <a:off x="4526280" y="4526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hry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5074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tabuľky hry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55280" y="42976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Text 12"/>
          <p:cNvSpPr txBox="1"/>
          <p:nvPr/>
        </p:nvSpPr>
        <p:spPr>
          <a:xfrm>
            <a:off x="8183880" y="4526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zaner = 'RPG'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5074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len tie, ktoré sú RPG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k-SK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nástroj: </a:t>
            </a:r>
            <a:r>
              <a:rPr lang="en-US" sz="3600" b="1" dirty="0" err="1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6035040" cy="4206240"/>
          </a:xfrm>
          <a:prstGeom prst="roundRect">
            <a:avLst>
              <a:gd name="adj" fmla="val 2174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Text 3"/>
          <p:cNvSpPr txBox="1"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47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Databáza v prehliadači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40487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netreba nič inštalovať — otvoríš stránku a píšeš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26440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Text 7"/>
          <p:cNvSpPr txBox="1"/>
          <p:nvPr/>
        </p:nvSpPr>
        <p:spPr>
          <a:xfrm>
            <a:off x="91440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Skutočná databáza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7033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beží v cloude, presne ako „ozajstný“ systém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4562856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3" name="Text 11"/>
          <p:cNvSpPr txBox="1"/>
          <p:nvPr/>
        </p:nvSpPr>
        <p:spPr>
          <a:xfrm>
            <a:off x="914400" y="4562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5445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editor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50017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napíšeš SELECT a hneď vidíš výsledok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95160" y="1645920"/>
            <a:ext cx="4526280" cy="4206240"/>
          </a:xfrm>
          <a:prstGeom prst="roundRect">
            <a:avLst>
              <a:gd name="adj" fmla="val 1739"/>
            </a:avLst>
          </a:prstGeom>
          <a:solidFill>
            <a:srgbClr val="0B2027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7" name="Shape 15"/>
          <p:cNvSpPr/>
          <p:nvPr/>
        </p:nvSpPr>
        <p:spPr>
          <a:xfrm>
            <a:off x="6995160" y="1645920"/>
            <a:ext cx="4526280" cy="502920"/>
          </a:xfrm>
          <a:prstGeom prst="rect">
            <a:avLst/>
          </a:prstGeom>
          <a:solidFill>
            <a:srgbClr val="16323C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8" name="Shape 16"/>
          <p:cNvSpPr/>
          <p:nvPr/>
        </p:nvSpPr>
        <p:spPr>
          <a:xfrm>
            <a:off x="7223760" y="1828800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9" name="Shape 17"/>
          <p:cNvSpPr/>
          <p:nvPr/>
        </p:nvSpPr>
        <p:spPr>
          <a:xfrm>
            <a:off x="7479792" y="1828800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0" name="Shape 18"/>
          <p:cNvSpPr/>
          <p:nvPr/>
        </p:nvSpPr>
        <p:spPr>
          <a:xfrm>
            <a:off x="7735824" y="1828800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1" name="Text 19"/>
          <p:cNvSpPr txBox="1"/>
          <p:nvPr/>
        </p:nvSpPr>
        <p:spPr>
          <a:xfrm>
            <a:off x="813816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Editor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468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hry;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315200" y="3566160"/>
            <a:ext cx="4023360" cy="457200"/>
          </a:xfrm>
          <a:prstGeom prst="rect">
            <a:avLst/>
          </a:prstGeom>
          <a:solidFill>
            <a:srgbClr val="1E3F49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4" name="Text 22"/>
          <p:cNvSpPr txBox="1"/>
          <p:nvPr/>
        </p:nvSpPr>
        <p:spPr>
          <a:xfrm>
            <a:off x="745236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Minecraft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0" y="35661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FB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0" y="4114800"/>
            <a:ext cx="4023360" cy="457200"/>
          </a:xfrm>
          <a:prstGeom prst="rect">
            <a:avLst/>
          </a:prstGeom>
          <a:solidFill>
            <a:srgbClr val="16323C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7" name="Text 25"/>
          <p:cNvSpPr txBox="1"/>
          <p:nvPr/>
        </p:nvSpPr>
        <p:spPr>
          <a:xfrm>
            <a:off x="745236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0" y="4114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FB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0" y="4663440"/>
            <a:ext cx="4023360" cy="457200"/>
          </a:xfrm>
          <a:prstGeom prst="rect">
            <a:avLst/>
          </a:prstGeom>
          <a:solidFill>
            <a:srgbClr val="1E3F49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30" name="Text 28"/>
          <p:cNvSpPr txBox="1"/>
          <p:nvPr/>
        </p:nvSpPr>
        <p:spPr>
          <a:xfrm>
            <a:off x="7452360" y="4663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Witcher 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0" y="4663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FB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Poďme si to vyskúšať naživo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Shape 2"/>
          <p:cNvSpPr/>
          <p:nvPr/>
        </p:nvSpPr>
        <p:spPr>
          <a:xfrm>
            <a:off x="868680" y="1773936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5" name="Text 3"/>
          <p:cNvSpPr txBox="1"/>
          <p:nvPr/>
        </p:nvSpPr>
        <p:spPr>
          <a:xfrm>
            <a:off x="868680" y="1773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0992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Pozrieme tabuľku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709928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uvidíme riadky a stĺpce naozaj — spojíme s pojmami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9" name="Shape 7"/>
          <p:cNvSpPr/>
          <p:nvPr/>
        </p:nvSpPr>
        <p:spPr>
          <a:xfrm>
            <a:off x="868680" y="2688336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Text 8"/>
          <p:cNvSpPr txBox="1"/>
          <p:nvPr/>
        </p:nvSpPr>
        <p:spPr>
          <a:xfrm>
            <a:off x="868680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62432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Vyberieme dáta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624328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a potom len niektoré stĺpce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4" name="Shape 12"/>
          <p:cNvSpPr/>
          <p:nvPr/>
        </p:nvSpPr>
        <p:spPr>
          <a:xfrm>
            <a:off x="868680" y="3602736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5" name="Text 13"/>
          <p:cNvSpPr txBox="1"/>
          <p:nvPr/>
        </p:nvSpPr>
        <p:spPr>
          <a:xfrm>
            <a:off x="868680" y="3602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53872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Pridáme podmienku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3538728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— len RPG hry, len hodnotené 9+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EEF3F5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9" name="Shape 17"/>
          <p:cNvSpPr/>
          <p:nvPr/>
        </p:nvSpPr>
        <p:spPr>
          <a:xfrm>
            <a:off x="868680" y="4517136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0" name="Text 18"/>
          <p:cNvSpPr txBox="1"/>
          <p:nvPr/>
        </p:nvSpPr>
        <p:spPr>
          <a:xfrm>
            <a:off x="868680" y="4517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45312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Zoradíme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4453128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— od najlepších, od najlacnejších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E2ECEF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4" name="Shape 22"/>
          <p:cNvSpPr/>
          <p:nvPr/>
        </p:nvSpPr>
        <p:spPr>
          <a:xfrm>
            <a:off x="868680" y="5431536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25" name="Text 23"/>
          <p:cNvSpPr txBox="1"/>
          <p:nvPr/>
        </p:nvSpPr>
        <p:spPr>
          <a:xfrm>
            <a:off x="868680" y="5431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36752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Vaša otázka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5367528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 poviete podmienku, ja ju napíšem a spustíme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Čo si z dn</a:t>
            </a:r>
            <a:r>
              <a:rPr lang="sk-SK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ška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odnášaš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75564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4" name="Text 2"/>
          <p:cNvSpPr txBox="1"/>
          <p:nvPr/>
        </p:nvSpPr>
        <p:spPr>
          <a:xfrm>
            <a:off x="73152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737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Databáza = usporiadaný súbor údajov (viac než Excel).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53288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7" name="Text 5"/>
          <p:cNvSpPr txBox="1"/>
          <p:nvPr/>
        </p:nvSpPr>
        <p:spPr>
          <a:xfrm>
            <a:off x="73152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14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Relačná databáza ukladá dáta do tabuliek.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31012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0" name="Text 8"/>
          <p:cNvSpPr txBox="1"/>
          <p:nvPr/>
        </p:nvSpPr>
        <p:spPr>
          <a:xfrm>
            <a:off x="73152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91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Riadok = záznam, stĺpec = atribút, každý stĺpec má dátový typ.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40873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3" name="Text 11"/>
          <p:cNvSpPr txBox="1"/>
          <p:nvPr/>
        </p:nvSpPr>
        <p:spPr>
          <a:xfrm>
            <a:off x="73152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069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F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databázou hovoríme cez SQL — príkaz SELECT vyberá dáta.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81160" y="1737360"/>
            <a:ext cx="2240280" cy="3108960"/>
          </a:xfrm>
          <a:prstGeom prst="roundRect">
            <a:avLst>
              <a:gd name="adj" fmla="val 4082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sk-SK"/>
          </a:p>
        </p:txBody>
      </p:sp>
      <p:sp>
        <p:nvSpPr>
          <p:cNvPr id="16" name="Text 14"/>
          <p:cNvSpPr txBox="1"/>
          <p:nvPr/>
        </p:nvSpPr>
        <p:spPr>
          <a:xfrm>
            <a:off x="9281160" y="2057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TESTÍK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560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otázok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spätná väzba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odkaz v Teams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6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 Forms)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· Informatické systémy — 1. hodina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595</Words>
  <Application>Microsoft Office PowerPoint</Application>
  <PresentationFormat>Widescreen</PresentationFormat>
  <Paragraphs>150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Mgr. Kozáková Dana</cp:lastModifiedBy>
  <cp:revision>2</cp:revision>
  <dcterms:created xsi:type="dcterms:W3CDTF">2026-09-09T17:23:42Z</dcterms:created>
  <dcterms:modified xsi:type="dcterms:W3CDTF">2026-09-10T04:26:17Z</dcterms:modified>
</cp:coreProperties>
</file>